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A9BAD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한국행정학회 2026년 하계 학술대회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정부업무평가 자체평가 보고서의</a:t>
            </a:r>
            <a:endParaRPr lang="en-US" sz="3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정책효과성 서술과 인과적 근거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0A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— 191개 관리과제의 탐색적 분석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이석민</a:t>
            </a:r>
            <a:pPr indent="0" marL="0">
              <a:buNone/>
            </a:pPr>
            <a:r>
              <a:rPr lang="en-US" sz="1500" dirty="0">
                <a:solidFill>
                  <a:srgbClr val="C9D2D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(한신대학교) · 제1저자   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이건</a:t>
            </a:r>
            <a:pPr indent="0" marL="0">
              <a:buNone/>
            </a:pPr>
            <a:r>
              <a:rPr lang="en-US" sz="1500" dirty="0">
                <a:solidFill>
                  <a:srgbClr val="C9D2D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(한양대학교) · 교신저자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28016" cy="128016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" y="32918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연구 배경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평가받지 않는 “근거의 수준”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정부업무평가 자체평가에서 성과달성도·정책효과성 항목 배점은 최소 60%로 권고되어, 정책성과 영역이 평가의 절반 이상을 차지함 (국무조정실, 2024)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정책효과성은 산식으로 계산되는 달성률과 달리 평가위원의 서술 판단에 크게 의존하며, 효과 입증에 필요한 비교 근거·통제 논리를 매뉴얼이 규정하지 않음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선행연구도 지표 중심 평가모형의 한계와 성과계획·성과보고의 형식화를 반복 지적해 옴 (이광희, 2007; 공병천, 2012)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예비 검토 결과, 보고서의 효과성 서술은 세 형태에 머묾</a:t>
            </a:r>
            <a:endParaRPr lang="en-US" sz="1450" dirty="0"/>
          </a:p>
          <a:p>
            <a:pPr lvl="1" marL="3556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A6B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활동 나열 — “~를 시행하였다”</a:t>
            </a:r>
            <a:endParaRPr lang="en-US" sz="1450" dirty="0"/>
          </a:p>
          <a:p>
            <a:pPr lvl="1" marL="3556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A6B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 수치만 제시 — “성장률 2% 달성”</a:t>
            </a:r>
            <a:endParaRPr lang="en-US" sz="1450" dirty="0"/>
          </a:p>
          <a:p>
            <a:pPr lvl="1" marL="3556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A6B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비교 근거 없는 암묵적 효과 주장 — “~를 통해 ~에 기여”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FBF3D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623560"/>
            <a:ext cx="91440" cy="658368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562356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자체평가 서술이 어느 수준의 인과적 근거를 제시하는지에 대한 실증 연구는 부족함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정책효과성 서술과 인과적 근거 · 한국행정학회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28016" cy="128016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" y="32918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연구질문 · 작업가설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무엇을 묻고, 무엇을 가정하는가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A6B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정책효과성의 핵심 질문은 “정책이 실제로 효과가 있었는가”이며, 답하려면 결과 보고를 넘어 비교·외부요인 통제·반사실적 추론이 필요함 (Weiss, 1998; Angrist &amp; Pischke, 2009)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440680" cy="187452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240280"/>
            <a:ext cx="91440" cy="18745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RQ1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자체평가 보고서의 정책효과성 서술은 인과적 근거를 어느 수준까지 제시하는가?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5A6B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측정: 보고서 문장을 L0(활동 기술)~L4(인과적 논증) 5단계로 분류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2240280"/>
            <a:ext cx="5440680" cy="187452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2240280"/>
            <a:ext cx="91440" cy="18745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RQ2  (탐색적)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78892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보고서 정보만으로 양적 인과분석 후보로 분류되는 과제는 얼마이며, 그 과제들의 근거 수준은 어떠한가?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5A6B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측정: 과제를 Type A~E로 분류한 뒤 Level과 교차분석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11091672" cy="658368"/>
          </a:xfrm>
          <a:prstGeom prst="rect">
            <a:avLst/>
          </a:prstGeom>
          <a:solidFill>
            <a:srgbClr val="FBF3D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617720"/>
            <a:ext cx="91440" cy="658368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461772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작업가설: 인과적 근거의 부재는 자료 부재가 아니라, 자료를 인과적 근거로 전환하는 보고·평가 절차의 부재에서 비롯될 수 있음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정책효과성 서술과 인과적 근거 · 한국행정학회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28016" cy="128016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" y="32918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분석 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효과성 질문을 5단계 근거 수준으로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Weiss(1998)의 효과성 질문계층과 Shadish et al.(2002)의 내적 타당도 논의를 결합해 5단계로 조작화함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383280" cy="713232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7452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L0  활동 기술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160520" y="187452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 수치 없음 — 결과 자체 미보고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3383280" cy="713232"/>
          </a:xfrm>
          <a:prstGeom prst="rect">
            <a:avLst/>
          </a:prstGeom>
          <a:solidFill>
            <a:srgbClr val="A9BAD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67919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L1  결과 제시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60520" y="2679192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수치 있으나 효과 주장 없음 — “의도한 결과가 발생했는가”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3383280" cy="713232"/>
          </a:xfrm>
          <a:prstGeom prst="rect">
            <a:avLst/>
          </a:prstGeom>
          <a:solidFill>
            <a:srgbClr val="6B86A9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8386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L2  암묵적 효과 주장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160520" y="3483864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효과 주장 있으나 비교 근거 없음 — “정책이 그 결과를 야기했는가”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88536"/>
            <a:ext cx="3383280" cy="713232"/>
          </a:xfrm>
          <a:prstGeom prst="rect">
            <a:avLst/>
          </a:prstGeom>
          <a:solidFill>
            <a:srgbClr val="2E4D7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28853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L3  비교 근거 효과 주장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160520" y="4288536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효과 주장 + 비교 수치가 동일 문장 내 공존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093208"/>
            <a:ext cx="3383280" cy="713232"/>
          </a:xfrm>
          <a:prstGeom prst="rect">
            <a:avLst/>
          </a:prstGeom>
          <a:solidFill>
            <a:srgbClr val="16263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09320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L4  인과적 논증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160520" y="5093208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반사실적 추론·외부요인 통제 — “대안적 설명이 배제되었는가”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A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 강도 ↑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60520" y="59893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판별 핵심: L2/L3 분기는 “효과 주장과 비교 수치의 동일 문장 내 공존” 여부로 결정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정책효과성 서술과 인과적 근거 · 한국행정학회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28016" cy="128016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" y="32918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이론적 위치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왜 근거 수준을 등급화하는가: 영국과의 대비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정책효과성 평가에서 근거의 강도를 등급화하려는 시도는 영국 평가 지침에서 확인됨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029200"/>
                <a:gridCol w="414223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영국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한국 정부업무평가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평가 설계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정책 설계 단계부터 평가 병행, 영향평가 방법 구분 제시 (Magenta Book; HM Treasury, 2026)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사후 자체평가 중심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근거 강도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Maryland SMS 1~5단계로 방법 강건성 등급화 (What Works Growth)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근거 수준 등급화·표시 요구 없음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주장 검증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“어떤 수준의 근거에 바탕한 주장인가”를 명시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활동 기술과 인과 논증이 같은 항목에서 평가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FBF3DF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5623560"/>
            <a:ext cx="91440" cy="658368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562356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공통 문제의식: “정책이 효과가 있었다”는 주장에 대해 그 근거의 수준을 물음 → 본 연구는 이 차이를 한국 보고서 텍스트에서 실증적으로 확인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정책효과성 서술과 인과적 근거 · 한국행정학회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28016" cy="128016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" y="32918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연구 방법 (1)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분석 대상과 분석 단위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4개 중앙행정기관의 2024년도 자체평가 결과보고서, 총 191개 관리과제 — 정책영역·기관유형·지표특성·과제규모의 다양성을 기준으로 한 의도적 표집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6766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246888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부처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유형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정책 특성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과제 수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기획재정부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부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거시경제·재정·조세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66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농림축산식품부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부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1차산업·수급·수출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45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고용노동부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부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고용·노동·산업안전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51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소방청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청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재난대응·소방안전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29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합계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191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2057400"/>
            <a:ext cx="4023360" cy="141732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8" name="Text 5"/>
          <p:cNvSpPr/>
          <p:nvPr/>
        </p:nvSpPr>
        <p:spPr>
          <a:xfrm>
            <a:off x="7818120" y="2240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단위A (평정근거)
</a:t>
            </a:r>
            <a:pPr indent="0" marL="0">
              <a:buNone/>
            </a:pPr>
            <a:r>
              <a:rPr lang="en-US" sz="12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평가위원이 작성한 정책효과성 평정 텍스트 (통상 1~3줄)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589520" y="3657600"/>
            <a:ext cx="4023360" cy="141732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0" name="Text 7"/>
          <p:cNvSpPr/>
          <p:nvPr/>
        </p:nvSpPr>
        <p:spPr>
          <a:xfrm>
            <a:off x="7818120" y="38404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단위B (주요성과)
</a:t>
            </a:r>
            <a:pPr indent="0" marL="0">
              <a:buNone/>
            </a:pPr>
            <a:r>
              <a:rPr lang="en-US" sz="12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부처가 작성한 주요성과 섹션 전체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FBF3DF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5623560"/>
            <a:ext cx="91440" cy="658368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562356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표본은 47개 기관 중 4개(8.5%)로 대표성에 한계가 있어, 발견은 잠정적 성격을 지님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정책효과성 서술과 인과적 근거 · 한국행정학회 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28016" cy="128016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" y="32918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연구 방법 (2)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LLM 코딩과 신뢰도 검증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통합 코딩 매뉴얼(조작적 정의·판별 순서도·16개 기준 예시·경계규칙)을 개발하고 신뢰도를 검증함 (Krippendorff, 2019)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 분석: Claude Opus에 동일 프롬프트 3회 독립 실행(temp 0.1) → 다수결 판정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강건성 점검: 5개 LLM 교차 적용 결과 모든 모델에서 L0이 최다 범주(29~55%) → 결론이 특정 모델에 의존하지 않음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554480"/>
          <a:ext cx="49377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지표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단위A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단위B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사전조율 Fleiss' κ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0.698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0.718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본코딩 Fleiss' κ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0.466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0.657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본코딩 Gwet's AC1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0.596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0.723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±1 일치율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83%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88%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029200"/>
            <a:ext cx="11091672" cy="658368"/>
          </a:xfrm>
          <a:prstGeom prst="rect">
            <a:avLst/>
          </a:prstGeom>
          <a:solidFill>
            <a:srgbClr val="FBF3DF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5029200"/>
            <a:ext cx="91440" cy="658368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502920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단위A의 낮은 κ는 L0 편중에 따른 카파 역설의 영향 — AC1·±1 일치율이 실질 안정성 양호를 보임 (Gwet, 2008). 인간-LLM 비교는 10건 예비 단계로 결과는 탐색적으로 해석함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정책효과성 서술과 인과적 근거 · 한국행정학회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28016" cy="128016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" y="32918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 1 · RQ1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 수준의 천장</a:t>
            </a:r>
            <a:endParaRPr lang="en-US" sz="2300" dirty="0"/>
          </a:p>
        </p:txBody>
      </p:sp>
      <p:pic>
        <p:nvPicPr>
          <p:cNvPr id="5" name="Image 0" descr="/sessions/vigilant-practical-dirac/mnt/outputs/deck/figs/fi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7680960" cy="2423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58200" y="1600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52.4%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458200" y="2468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단위B의 절반 이상이 L0 (활동 기술)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58200" y="3291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A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0건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4582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L4 (인과적 논증) — 191건 전체에서 관찰되지 않음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43434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효과 주장 자체를 하지 않는 L0+L1이 단위B의 79.1%, 단위A의 67.6%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반사실적 추론·외부요인 통제를 수반한 서술(L4)은 부재 — 다수 서술이 “의도한 결과가 발생했는가”라는 첫 질문에도 답하지 못함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5669280"/>
            <a:ext cx="11091672" cy="658368"/>
          </a:xfrm>
          <a:prstGeom prst="rect">
            <a:avLst/>
          </a:prstGeom>
          <a:solidFill>
            <a:srgbClr val="FBF3DF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5669280"/>
            <a:ext cx="91440" cy="658368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566928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단위A·단위B 모두 L0(활동 기술)이 과반을 차지함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정책효과성 서술과 인과적 근거 · 한국행정학회 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28016" cy="128016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" y="32918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 1 · RQ1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부처 간 편차와 등급과의 단절</a:t>
            </a:r>
            <a:endParaRPr lang="en-US" sz="2300" dirty="0"/>
          </a:p>
        </p:txBody>
      </p:sp>
      <p:pic>
        <p:nvPicPr>
          <p:cNvPr id="5" name="Image 0" descr="/sessions/vigilant-practical-dirac/mnt/outputs/deck/figs/fi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6583680" cy="3218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8920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L3 비율: 고용노동부 24% / 농림축산식품부 16% / 기획재정부 3% / 소방청 0%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06640" y="1554480"/>
            <a:ext cx="4206240" cy="356616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8" name="Text 5"/>
          <p:cNvSpPr/>
          <p:nvPr/>
        </p:nvSpPr>
        <p:spPr>
          <a:xfrm>
            <a:off x="763524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종합등급 ↔ 근거 수준: 단절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35240" y="219456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카이제곱은 유의하나 Cramer's V=0.232 (약한 연관), 순위상관 rs=−0.130 (비유의)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우수 등급 과제도 26%가 L0, 최하 등급에도 L3 사례 존재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소방청은 29건 중 L0이 97% — 인프라 정비·제도 구축 중심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5669280"/>
            <a:ext cx="11091672" cy="658368"/>
          </a:xfrm>
          <a:prstGeom prst="rect">
            <a:avLst/>
          </a:prstGeom>
          <a:solidFill>
            <a:srgbClr val="FBF3DF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5669280"/>
            <a:ext cx="91440" cy="658368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566928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현행 등급 체계는 “목표를 달성했는가”엔 일부 답하나, “정책이 그 결과를 야기했는가”엔 충분히 답하지 못함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정책효과성 서술과 인과적 근거 · 한국행정학회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28016" cy="128016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" y="32918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 2 · 핵심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자료는 있는데 논증이 없다</a:t>
            </a:r>
            <a:endParaRPr lang="en-US" sz="2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2237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22960"/>
                <a:gridCol w="822960"/>
                <a:gridCol w="822960"/>
                <a:gridCol w="822960"/>
                <a:gridCol w="8229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Type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L0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L1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L2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L3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합계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 인과분석 우선 후보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13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42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13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18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86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B 제한적 후보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6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 횡단면 후보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8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16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 텍스트 분석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E 현행 유지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78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78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001000" y="1554480"/>
            <a:ext cx="3611880" cy="28346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7" name="Text 4"/>
          <p:cNvSpPr/>
          <p:nvPr/>
        </p:nvSpPr>
        <p:spPr>
          <a:xfrm>
            <a:off x="818388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D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양적 분석 후보 (A+B)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8388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92건 = 48.2%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183880" y="2697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A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63.0%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183880" y="36118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그중 58건이 효과 주장조차 없는 L0 / L1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45720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정량지표·시계열·비교 구조의 단서를 갖췄음에도 결과 수치 없이 활동만 기술(L0)하거나 수치를 정책과 연결하지 않음(L1) — 전체 191건의 30.4%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후보 여부와 근거 제시 여부는 독립이 아님 (2×2 χ²=27.49, p&lt;0.01)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48640" y="5669280"/>
            <a:ext cx="11091672" cy="658368"/>
          </a:xfrm>
          <a:prstGeom prst="rect">
            <a:avLst/>
          </a:prstGeom>
          <a:solidFill>
            <a:srgbClr val="FBF3DF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5669280"/>
            <a:ext cx="91440" cy="658368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566928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병목은 데이터 부재가 아니라, 데이터를 인과적 근거로 전환하는 절차의 부재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정책효과성 서술과 인과적 근거 · 한국행정학회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28016" cy="128016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" y="32918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가능성 예증 (1)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이미 있는 자료로 차분 비교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고용노동부 “중소기업 안전보건 역량 강화 지원” 과제(Type A) — 보고서 기재 정규화 지표와 공식 통계만으로 노출 강도별 비교 (연속 처치 DiD 참고; Callaway et al., 2024)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577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914400"/>
                <a:gridCol w="914400"/>
                <a:gridCol w="10058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집단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개입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2023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2024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변화율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5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고강도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직접 컨설팅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0.915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0.444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0A93B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−51.5%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5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중강도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간접 지원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0.230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0.110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−52.2%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5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저강도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전국 전체·기준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0.390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0.390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0.0%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16052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B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한계: 집단 간 기저율 차이(고위험 선정→회귀-평균), 구성 이질성, 2시점 비교로 사전 추세 검증 불가</a:t>
            </a:r>
            <a:endParaRPr lang="en-US" sz="1150" dirty="0"/>
          </a:p>
        </p:txBody>
      </p:sp>
      <p:pic>
        <p:nvPicPr>
          <p:cNvPr id="8" name="Image 0" descr="/sessions/vigilant-practical-dirac/mnt/outputs/deck/figs/fig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783080"/>
            <a:ext cx="5257800" cy="305409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5669280"/>
            <a:ext cx="11091672" cy="658368"/>
          </a:xfrm>
          <a:prstGeom prst="rect">
            <a:avLst/>
          </a:prstGeom>
          <a:solidFill>
            <a:srgbClr val="FBF3DF"/>
          </a:solidFill>
          <a:ln/>
        </p:spPr>
      </p:sp>
      <p:sp>
        <p:nvSpPr>
          <p:cNvPr id="10" name="Shape 6"/>
          <p:cNvSpPr/>
          <p:nvPr/>
        </p:nvSpPr>
        <p:spPr>
          <a:xfrm>
            <a:off x="548640" y="5669280"/>
            <a:ext cx="91440" cy="658368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11" name="Text 7"/>
          <p:cNvSpPr/>
          <p:nvPr/>
        </p:nvSpPr>
        <p:spPr>
          <a:xfrm>
            <a:off x="786384" y="566928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기준집단 변화가 0이므로 감소는 전국 추세와 구별됨 — 용량-반응 패턴 관찰. 보고서 데이터만으로도 인과 분석의 출발점 확보 가능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정책효과성 서술과 인과적 근거 · 한국행정학회 2026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28016" cy="128016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" y="32918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가능성 예증 (2)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LLM으로 숨은 수치 추출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정성지표 과제(Type D)의 본문에 흩어진 정량 정보를 LLM으로 구조화 추출 → 통계 분석의 입력값으로 전환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① 농식품부 ODA 스마트팜 — 전후 비교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지표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기초선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멜론 생산성(kg/㎡)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0.52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1.23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2.4배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시장 판매금액($)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5.4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14.9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2.8배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② 소방청 환자 소생률 — 비율 비교</a:t>
            </a:r>
            <a:endParaRPr lang="en-US" sz="12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이송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생존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생존율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2024 (확대)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26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80.8%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2023 (시범)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20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15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374D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75.0%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400800" y="2011680"/>
            <a:ext cx="5212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①은 요약 문장(“기초선 대비 137% 증가”)에서 기초선·사후를 분리해 효과 크기를 산출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②는 보고서가 “소생률 향상”을 제시했으나 피셔 정확 검정 결과 비유의 (OR=1.40, p=0.453, n=46)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단위B를 L1로 분류한 근거가 확인됨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48640" y="5669280"/>
            <a:ext cx="11091672" cy="658368"/>
          </a:xfrm>
          <a:prstGeom prst="rect">
            <a:avLst/>
          </a:prstGeom>
          <a:solidFill>
            <a:srgbClr val="FBF3DF"/>
          </a:solidFill>
          <a:ln/>
        </p:spPr>
      </p:sp>
      <p:sp>
        <p:nvSpPr>
          <p:cNvPr id="12" name="Shape 8"/>
          <p:cNvSpPr/>
          <p:nvPr/>
        </p:nvSpPr>
        <p:spPr>
          <a:xfrm>
            <a:off x="548640" y="5669280"/>
            <a:ext cx="91440" cy="658368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13" name="Text 9"/>
          <p:cNvSpPr/>
          <p:nvPr/>
        </p:nvSpPr>
        <p:spPr>
          <a:xfrm>
            <a:off x="786384" y="566928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LLM은 비정형 텍스트를 통계적 검토 가능한 데이터로 전환하며, 보고서 주장을 사후 검증하는 수단이 됨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정책효과성 서술과 인과적 근거 · 한국행정학회 2026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28016" cy="128016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" y="32918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결론 · 정책 제안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전환 절차의 부재, 그리고 제도 재설계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40680" cy="4572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진단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5440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양적 분석 후보(48.2%)의 63%가 효과 주장조차 없는 L0/L1 → 격차의 원인은 데이터가 아니라 전환 절차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정책효과성을 “성과지표 달성도”로 대리 측정 — 목표기반 평가의 한계 (Scriven, 1991)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등급·서식 어디에도 근거 강도를 구분하는 장치가 없음 (Magenta Book과 대비)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440680" cy="457200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55448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제안 — 사업·평가 제도의 재설계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72200" y="2148840"/>
            <a:ext cx="5440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사업 기획 단계에서 비교집단 지정, 기초선 측정 의무화, 단계적 확대(phased rollout)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인과적 근거 수준에 따른 차등 배점으로 데이터 구축·인과분석 설계 유인 형성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Type A 과제(45.0%) 대상 행정데이터 검토 후 DiD·SCM 시범 적용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5669280"/>
            <a:ext cx="11091672" cy="658368"/>
          </a:xfrm>
          <a:prstGeom prst="rect">
            <a:avLst/>
          </a:prstGeom>
          <a:solidFill>
            <a:srgbClr val="FBF3D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5669280"/>
            <a:ext cx="91440" cy="658368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566928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핵심은 평가가 “결과를 보고했는가”와 “정책이 그 결과를 낳았다는 근거를 제시했는가”를 구분하게 만드는 일임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정책효과성 서술과 인과적 근거 · 한국행정학회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28016" cy="128016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" y="32918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한계 · 맺음말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잠정적 발견과 남은 과제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4개 부처·1개 연도(전체의 8.5%) → 전체 기관·다년도로의 일반화에 제한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인간-LLM 비교는 10건 예비 단계, 매뉴얼 버전 불일치 → 타당도 추가 검증 필요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보고서 텍스트만 분석 → 외부 근거 자료·평가위원의 암묵적 판단은 미포함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Type 분류는 보고서상 데이터의 실재를 가정 → 실제 데이터 가용성과 괴리 가능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11091672" cy="1097280"/>
          </a:xfrm>
          <a:prstGeom prst="rect">
            <a:avLst/>
          </a:prstGeom>
          <a:solidFill>
            <a:srgbClr val="16263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794760"/>
            <a:ext cx="109728" cy="1097280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794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“자료는 절반이 준비돼 있다. 없는 것은 그것을 ‘근거’로 바꾸는 평가 제도다.”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후속 연구  </a:t>
            </a:r>
            <a:pPr indent="0" marL="0">
              <a:buNone/>
            </a:pPr>
            <a:r>
              <a:rPr lang="en-US" sz="1300" dirty="0">
                <a:solidFill>
                  <a:srgbClr val="27374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47개 기관·복수 연도로 표본 확대  ·  다수 인간 코더 검증  ·  Type A 과제 대상 인과분석 실제 적용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정책효과성 서술과 인과적 근거 · 한국행정학회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정부업무평가 자체평가 보고서의 정책효과성 서술과 인과적 근거</dc:title>
  <dc:subject>PptxGenJS Presentation</dc:subject>
  <dc:creator>이석민, 이건</dc:creator>
  <cp:lastModifiedBy>이석민, 이건</cp:lastModifiedBy>
  <cp:revision>1</cp:revision>
  <dcterms:created xsi:type="dcterms:W3CDTF">2026-06-08T23:01:48Z</dcterms:created>
  <dcterms:modified xsi:type="dcterms:W3CDTF">2026-06-08T23:01:48Z</dcterms:modified>
</cp:coreProperties>
</file>